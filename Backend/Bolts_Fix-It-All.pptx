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58368"/>
            <a:ext cx="6858000" cy="27432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1" i="0">
                <a:solidFill>
                  <a:srgbClr val="F0B43C"/>
                </a:solidFill>
                <a:latin typeface="Aptos"/>
              </a:defRPr>
            </a:pPr>
            <a:r>
              <a:t>A LITTLE SHOP FOR SECOND CHANCES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15568"/>
            <a:ext cx="6949440" cy="169164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3800" b="1" i="0">
                <a:solidFill>
                  <a:srgbClr val="FFF4DC"/>
                </a:solidFill>
                <a:latin typeface="Aptos Display"/>
              </a:defRPr>
            </a:pPr>
            <a:r>
              <a:t>BOLT’S</a:t>
            </a:r>
            <a:br/>
            <a:r>
              <a:t>FIX-IT-ALL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99232"/>
            <a:ext cx="6492240" cy="43891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2200" b="0" i="0">
                <a:solidFill>
                  <a:srgbClr val="F8E2B8"/>
                </a:solidFill>
                <a:latin typeface="Aptos"/>
              </a:defRPr>
            </a:pPr>
            <a:r>
              <a:t>An interactive, storybook toy-repair 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75887"/>
            <a:ext cx="6217920" cy="9144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0" i="0">
                <a:solidFill>
                  <a:srgbClr val="FFF4DC"/>
                </a:solidFill>
                <a:latin typeface="Aptos"/>
              </a:defRPr>
            </a:pPr>
            <a:r>
              <a:t>A playful digital world where a tiny robot mechanic repairs forgotten toys—and every repair becomes a story to explore.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685800"/>
            <a:ext cx="3886200" cy="5212080"/>
          </a:xfrm>
          <a:prstGeom prst="roundRect">
            <a:avLst/>
          </a:prstGeom>
          <a:solidFill>
            <a:srgbClr val="6B3F22"/>
          </a:solidFill>
          <a:ln>
            <a:solidFill>
              <a:srgbClr val="F0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54112" y="896112"/>
            <a:ext cx="3465576" cy="4791456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2926080" cy="4572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2800" b="1" i="0">
                <a:solidFill>
                  <a:srgbClr val="D7473F"/>
                </a:solidFill>
                <a:latin typeface="Aptos"/>
              </a:defRPr>
            </a:pPr>
            <a:r>
              <a:t>BOLT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3017520" cy="4114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2800" b="1" i="0">
                <a:solidFill>
                  <a:srgbClr val="2F8F8B"/>
                </a:solidFill>
                <a:latin typeface="Aptos"/>
              </a:defRPr>
            </a:pPr>
            <a: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606040"/>
            <a:ext cx="2834640" cy="10058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DIAGNOSE  →  REPAIR</a:t>
            </a:r>
            <a:br/>
            <a:r>
              <a:t>→  TEST  →  DELIVER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297680"/>
            <a:ext cx="2971800" cy="54864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200" b="1" i="0">
                <a:solidFill>
                  <a:srgbClr val="6B3F22"/>
                </a:solidFill>
                <a:latin typeface="Aptos"/>
              </a:defRPr>
            </a:pPr>
            <a:r>
              <a:t>GOOD TOYS, BRIGHTER TOMORROW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44768"/>
            <a:ext cx="5943600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PROJECT CONCEPT &amp; EXPERIENCE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800" b="1" i="0">
                <a:solidFill>
                  <a:srgbClr val="C6A477"/>
                </a:solidFill>
                <a:latin typeface="Aptos"/>
              </a:defRPr>
            </a:pPr>
            <a:r>
              <a:t>BOLT’S FIX-IT-ALL  •  EVERY BROKEN TOY DESERVES A SECOND CHANCE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01 /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2900" b="1" i="0">
                <a:solidFill>
                  <a:srgbClr val="FFF4DC"/>
                </a:solidFill>
                <a:latin typeface="Aptos Display"/>
              </a:defRPr>
            </a:pPr>
            <a:r>
              <a:t>Meet Bolt and his little repair 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300" b="0" i="0">
                <a:solidFill>
                  <a:srgbClr val="F8E2B8"/>
                </a:solidFill>
                <a:latin typeface="Aptos"/>
              </a:defRPr>
            </a:pPr>
            <a:r>
              <a:t>A character-led portfolio disguised as a cozy, nostalgic toy-repair experience.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10881360" cy="2286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274320"/>
            <a:ext cx="457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429000" cy="246888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91440" cy="2468880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310896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The character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52344"/>
            <a:ext cx="3063240" cy="177393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Bolt is a kind, quietly wise baby robot mechanic. Curious, patient, creative, and convinced that broken things deserve another chance.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29000" cy="246888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91440" cy="246888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286000"/>
            <a:ext cx="310896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The 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52344"/>
            <a:ext cx="3063240" cy="177393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A richly illustrated 1990s-inspired workshop: warm wood, amber lamps, teal accents, handmade notes, vintage toys, and tactile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429000" cy="246888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91440" cy="2468880"/>
          </a:xfrm>
          <a:prstGeom prst="rect">
            <a:avLst/>
          </a:prstGeom>
          <a:solidFill>
            <a:srgbClr val="F0B43C"/>
          </a:solidFill>
          <a:ln>
            <a:solidFill>
              <a:srgbClr val="F0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286000"/>
            <a:ext cx="310896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The promise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52344"/>
            <a:ext cx="3063240" cy="177393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Every toy has a story. Every repair is a small act of care. Visitors explore the shop by interacting with its objects—not by browsing ordinary cards.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10241280" cy="50292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2100" b="1" i="0">
                <a:solidFill>
                  <a:srgbClr val="F0B43C"/>
                </a:solidFill>
                <a:latin typeface="Aptos"/>
              </a:defRPr>
            </a:pPr>
            <a:r>
              <a:t>Core motto: “Every broken toy deserves a second chance.”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800" b="1" i="0">
                <a:solidFill>
                  <a:srgbClr val="C6A477"/>
                </a:solidFill>
                <a:latin typeface="Aptos"/>
              </a:defRPr>
            </a:pPr>
            <a:r>
              <a:t>BOLT’S FIX-IT-ALL  •  EVERY BROKEN TOY DESERVES A SECOND CHANCE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02 / VISUAL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2900" b="1" i="0">
                <a:solidFill>
                  <a:srgbClr val="FFF4DC"/>
                </a:solidFill>
                <a:latin typeface="Aptos Display"/>
              </a:defRPr>
            </a:pPr>
            <a:r>
              <a:t>A living storybook—not a standard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300" b="0" i="0">
                <a:solidFill>
                  <a:srgbClr val="F8E2B8"/>
                </a:solidFill>
                <a:latin typeface="Aptos"/>
              </a:defRPr>
            </a:pPr>
            <a:r>
              <a:t>The visual world stays consistent, while functional elements are built as real UI.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10881360" cy="2286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274320"/>
            <a:ext cx="457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429000" cy="205740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91440" cy="205740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310896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Illustrated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52344"/>
            <a:ext cx="3063240" cy="1362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Detailed workshop artwork supplies the shelves, wood textures, plants, tools, warm lighting, and atmosphere.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29000" cy="205740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91440" cy="2057400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286000"/>
            <a:ext cx="310896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Live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52344"/>
            <a:ext cx="3063240" cy="1362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Bolt, TV, navigation, speech bubbles, cards, forms, and buttons remain separate React elements.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429000" cy="205740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91440" cy="2057400"/>
          </a:xfrm>
          <a:prstGeom prst="rect">
            <a:avLst/>
          </a:prstGeom>
          <a:solidFill>
            <a:srgbClr val="F0B43C"/>
          </a:solidFill>
          <a:ln>
            <a:solidFill>
              <a:srgbClr val="F0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286000"/>
            <a:ext cx="310896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Responsive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52344"/>
            <a:ext cx="3063240" cy="1362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Desktop keeps the immersive room; tablet rearranges the composition; mobile stacks content and simplifies decoration.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0332720" cy="4114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800" b="1" i="0">
                <a:solidFill>
                  <a:srgbClr val="FFF4DC"/>
                </a:solidFill>
                <a:latin typeface="Aptos"/>
              </a:defRPr>
            </a:pPr>
            <a:r>
              <a:t>Palette: warm cream • dark wood • teal • tomato red • mustard gold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85232"/>
            <a:ext cx="10149840" cy="4572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400" b="0" i="0">
                <a:solidFill>
                  <a:srgbClr val="F8E2B8"/>
                </a:solidFill>
                <a:latin typeface="Aptos"/>
              </a:defRPr>
            </a:pPr>
            <a:r>
              <a:t>Texture and lighting come from artwork. Interactivity, accessibility, and responsive behavior come from code.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800" b="1" i="0">
                <a:solidFill>
                  <a:srgbClr val="C6A477"/>
                </a:solidFill>
                <a:latin typeface="Aptos"/>
              </a:defRPr>
            </a:pPr>
            <a:r>
              <a:t>BOLT’S FIX-IT-ALL  •  EVERY BROKEN TOY DESERVES A SECOND CHANCE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03 / VISITOR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2900" b="1" i="0">
                <a:solidFill>
                  <a:srgbClr val="FFF4DC"/>
                </a:solidFill>
                <a:latin typeface="Aptos Display"/>
              </a:defRPr>
            </a:pPr>
            <a:r>
              <a:t>A visit through Bolt’s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300" b="0" i="0">
                <a:solidFill>
                  <a:srgbClr val="F8E2B8"/>
                </a:solidFill>
                <a:latin typeface="Aptos"/>
              </a:defRPr>
            </a:pPr>
            <a:r>
              <a:t>The experience follows a clear sequence, with a small map for quick navigation.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10881360" cy="2286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274320"/>
            <a:ext cx="457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60604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91440" cy="123444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400" b="1" i="0">
                <a:solidFill>
                  <a:srgbClr val="2B1D17"/>
                </a:solidFill>
                <a:latin typeface="Aptos"/>
              </a:defRPr>
            </a:pPr>
            <a:r>
              <a:t>01  Storefront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52344"/>
            <a:ext cx="224028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0" i="0">
                <a:solidFill>
                  <a:srgbClr val="2B1D17"/>
                </a:solidFill>
                <a:latin typeface="Aptos"/>
              </a:defRPr>
            </a:pPr>
            <a:r>
              <a:t>Warm exterior and Enter the Shop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48840"/>
            <a:ext cx="260604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148840"/>
            <a:ext cx="91440" cy="1234440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228600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400" b="1" i="0">
                <a:solidFill>
                  <a:srgbClr val="2B1D17"/>
                </a:solidFill>
                <a:latin typeface="Aptos"/>
              </a:defRPr>
            </a:pPr>
            <a:r>
              <a:t>02  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752344"/>
            <a:ext cx="224028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0" i="0">
                <a:solidFill>
                  <a:srgbClr val="2B1D17"/>
                </a:solidFill>
                <a:latin typeface="Aptos"/>
              </a:defRPr>
            </a:pPr>
            <a:r>
              <a:t>Door opens; brief camera transition inside.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48840"/>
            <a:ext cx="260604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148840"/>
            <a:ext cx="91440" cy="1234440"/>
          </a:xfrm>
          <a:prstGeom prst="rect">
            <a:avLst/>
          </a:prstGeom>
          <a:solidFill>
            <a:srgbClr val="F0B43C"/>
          </a:solidFill>
          <a:ln>
            <a:solidFill>
              <a:srgbClr val="F0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28600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400" b="1" i="0">
                <a:solidFill>
                  <a:srgbClr val="2B1D17"/>
                </a:solidFill>
                <a:latin typeface="Aptos"/>
              </a:defRPr>
            </a:pPr>
            <a:r>
              <a:t>03  Meet Bolt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752344"/>
            <a:ext cx="224028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0" i="0">
                <a:solidFill>
                  <a:srgbClr val="2B1D17"/>
                </a:solidFill>
                <a:latin typeface="Aptos"/>
              </a:defRPr>
            </a:pPr>
            <a:r>
              <a:t>Bolt welcomes visitors; CRT offers optional origin story.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148840"/>
            <a:ext cx="260604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2148840"/>
            <a:ext cx="91440" cy="123444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6608" y="228600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400" b="1" i="0">
                <a:solidFill>
                  <a:srgbClr val="2B1D17"/>
                </a:solidFill>
                <a:latin typeface="Aptos"/>
              </a:defRPr>
            </a:pPr>
            <a:r>
              <a:t>04  Repair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2752344"/>
            <a:ext cx="224028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0" i="0">
                <a:solidFill>
                  <a:srgbClr val="2B1D17"/>
                </a:solidFill>
                <a:latin typeface="Aptos"/>
              </a:defRPr>
            </a:pPr>
            <a:r>
              <a:t>Diagnose → Repair → Test → Deliver.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03320"/>
            <a:ext cx="260604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703320"/>
            <a:ext cx="91440" cy="123444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84048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400" b="1" i="0">
                <a:solidFill>
                  <a:srgbClr val="2B1D17"/>
                </a:solidFill>
                <a:latin typeface="Aptos"/>
              </a:defRPr>
            </a:pPr>
            <a:r>
              <a:t>05  Tool Wall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306824"/>
            <a:ext cx="224028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0" i="0">
                <a:solidFill>
                  <a:srgbClr val="2B1D17"/>
                </a:solidFill>
                <a:latin typeface="Aptos"/>
              </a:defRPr>
            </a:pPr>
            <a:r>
              <a:t>Bolt’s fictional tools reveal how he repairs toys.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703320"/>
            <a:ext cx="260604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3703320"/>
            <a:ext cx="91440" cy="1234440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328" y="384048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400" b="1" i="0">
                <a:solidFill>
                  <a:srgbClr val="2B1D17"/>
                </a:solidFill>
                <a:latin typeface="Aptos"/>
              </a:defRPr>
            </a:pPr>
            <a:r>
              <a:t>06  Projects Shelf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4306824"/>
            <a:ext cx="224028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0" i="0">
                <a:solidFill>
                  <a:srgbClr val="2B1D17"/>
                </a:solidFill>
                <a:latin typeface="Aptos"/>
              </a:defRPr>
            </a:pPr>
            <a:r>
              <a:t>Four completed toy repairs, each with a repair story.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03320"/>
            <a:ext cx="260604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91440" cy="1234440"/>
          </a:xfrm>
          <a:prstGeom prst="rect">
            <a:avLst/>
          </a:prstGeom>
          <a:solidFill>
            <a:srgbClr val="F0B43C"/>
          </a:solidFill>
          <a:ln>
            <a:solidFill>
              <a:srgbClr val="F0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384048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400" b="1" i="0">
                <a:solidFill>
                  <a:srgbClr val="2B1D17"/>
                </a:solidFill>
                <a:latin typeface="Aptos"/>
              </a:defRPr>
            </a:pPr>
            <a:r>
              <a:t>07  Contact Counter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4306824"/>
            <a:ext cx="224028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0" i="0">
                <a:solidFill>
                  <a:srgbClr val="2B1D17"/>
                </a:solidFill>
                <a:latin typeface="Aptos"/>
              </a:defRPr>
            </a:pPr>
            <a:r>
              <a:t>Submit repair requests and browse other customers’ requests.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486400"/>
            <a:ext cx="10424160" cy="3657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400" b="1" i="0">
                <a:solidFill>
                  <a:srgbClr val="F0B43C"/>
                </a:solidFill>
                <a:latin typeface="Aptos"/>
              </a:defRPr>
            </a:pPr>
            <a:r>
              <a:t>The Scrapbook section is intentionally excluded.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800" b="1" i="0">
                <a:solidFill>
                  <a:srgbClr val="C6A477"/>
                </a:solidFill>
                <a:latin typeface="Aptos"/>
              </a:defRPr>
            </a:pPr>
            <a:r>
              <a:t>BOLT’S FIX-IT-ALL  •  EVERY BROKEN TOY DESERVES A SECOND CHANCE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04 / PAGE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2900" b="1" i="0">
                <a:solidFill>
                  <a:srgbClr val="FFF4DC"/>
                </a:solidFill>
                <a:latin typeface="Aptos Display"/>
              </a:defRPr>
            </a:pPr>
            <a:r>
              <a:t>Meet Bolt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300" b="0" i="0">
                <a:solidFill>
                  <a:srgbClr val="F8E2B8"/>
                </a:solidFill>
                <a:latin typeface="Aptos"/>
              </a:defRPr>
            </a:pPr>
            <a:r>
              <a:t>The first interior scene introduces the character and lets visitors discover his personality.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10881360" cy="2286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274320"/>
            <a:ext cx="457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474720" cy="242316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91440" cy="2423160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3154679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Bolt as a live character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52344"/>
            <a:ext cx="3108960" cy="172821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Use a separate transparent character asset so he can blink, wave, tilt his head, and celebrate through small state-driven animations.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74720" cy="242316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91440" cy="242316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286000"/>
            <a:ext cx="3154679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Interactive CRT television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52344"/>
            <a:ext cx="3108960" cy="172821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Keep the TV frame or screen as a separate component. Click to power on, show a brief static effect, then reveal Bolt’s optional origin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474720" cy="242316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91440" cy="2423160"/>
          </a:xfrm>
          <a:prstGeom prst="rect">
            <a:avLst/>
          </a:prstGeom>
          <a:solidFill>
            <a:srgbClr val="F0B43C"/>
          </a:solidFill>
          <a:ln>
            <a:solidFill>
              <a:srgbClr val="F0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286000"/>
            <a:ext cx="3154679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Personality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52344"/>
            <a:ext cx="3108960" cy="172821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A parchment area below the counter displays Curious, Patient, Creative, and Believes in Second Chances. Add real text as HTML.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500" b="0" i="0">
                <a:solidFill>
                  <a:srgbClr val="F8E2B8"/>
                </a:solidFill>
                <a:latin typeface="Aptos"/>
              </a:defRPr>
            </a:pPr>
            <a:r>
              <a:t>Bolt’s dialogue can change on click; hover effects must also work as taps on mobile.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800" b="1" i="0">
                <a:solidFill>
                  <a:srgbClr val="C6A477"/>
                </a:solidFill>
                <a:latin typeface="Aptos"/>
              </a:defRPr>
            </a:pPr>
            <a:r>
              <a:t>BOLT’S FIX-IT-ALL  •  EVERY BROKEN TOY DESERVES A SECOND CHANCE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05 / PAGE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2900" b="1" i="0">
                <a:solidFill>
                  <a:srgbClr val="FFF4DC"/>
                </a:solidFill>
                <a:latin typeface="Aptos Display"/>
              </a:defRPr>
            </a:pPr>
            <a:r>
              <a:t>Bolt’s Repair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300" b="0" i="0">
                <a:solidFill>
                  <a:srgbClr val="F8E2B8"/>
                </a:solidFill>
                <a:latin typeface="Aptos"/>
              </a:defRPr>
            </a:pPr>
            <a:r>
              <a:t>A four-step process presented as a wooden noticeboard with interactive parchment cards.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10881360" cy="2286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274320"/>
            <a:ext cx="457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2606040" cy="233172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2331720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1 · DIAGNOSE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98064"/>
            <a:ext cx="2240280" cy="1636775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Understand what is wrong</a:t>
            </a:r>
            <a:br/>
            <a:br/>
            <a:r>
              <a:t>Listen to the toy’s story; observe carefully; find the real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94560"/>
            <a:ext cx="2606040" cy="233172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194560"/>
            <a:ext cx="91440" cy="233172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233172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2 · REPAIR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798064"/>
            <a:ext cx="2240280" cy="1636775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Find the right solution</a:t>
            </a:r>
            <a:br/>
            <a:br/>
            <a:r>
              <a:t>Plan the fix; use the right tools; be patient and precise.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94560"/>
            <a:ext cx="2606040" cy="233172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194560"/>
            <a:ext cx="91440" cy="2331720"/>
          </a:xfrm>
          <a:prstGeom prst="rect">
            <a:avLst/>
          </a:prstGeom>
          <a:solidFill>
            <a:srgbClr val="F0B43C"/>
          </a:solidFill>
          <a:ln>
            <a:solidFill>
              <a:srgbClr val="F0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33172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3 ·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798064"/>
            <a:ext cx="2240280" cy="1636775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Make sure it works</a:t>
            </a:r>
            <a:br/>
            <a:br/>
            <a:r>
              <a:t>Check every part; test under real use; fix remaining issues.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194560"/>
            <a:ext cx="2606040" cy="233172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2194560"/>
            <a:ext cx="91440" cy="2331720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6608" y="233172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4 · 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2798064"/>
            <a:ext cx="2240280" cy="1636775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Return it better than before</a:t>
            </a:r>
            <a:br/>
            <a:br/>
            <a:r>
              <a:t>Give the toy a new adventure and a brighter tomorrow.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500" b="1" i="0">
                <a:solidFill>
                  <a:srgbClr val="F0B43C"/>
                </a:solidFill>
                <a:latin typeface="Aptos"/>
              </a:defRPr>
            </a:pPr>
            <a:r>
              <a:t>Supporting panels: Bolt’s Note • Process in Action • Real Life, Same Principles!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800" b="1" i="0">
                <a:solidFill>
                  <a:srgbClr val="C6A477"/>
                </a:solidFill>
                <a:latin typeface="Aptos"/>
              </a:defRPr>
            </a:pPr>
            <a:r>
              <a:t>BOLT’S FIX-IT-ALL  •  EVERY BROKEN TOY DESERVES A SECOND CHANCE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06 / PAGE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2900" b="1" i="0">
                <a:solidFill>
                  <a:srgbClr val="FFF4DC"/>
                </a:solidFill>
                <a:latin typeface="Aptos Display"/>
              </a:defRPr>
            </a:pPr>
            <a:r>
              <a:t>The Tool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300" b="0" i="0">
                <a:solidFill>
                  <a:srgbClr val="F8E2B8"/>
                </a:solidFill>
                <a:latin typeface="Aptos"/>
              </a:defRPr>
            </a:pPr>
            <a:r>
              <a:t>These are Bolt’s fictional repair gadgets—not a list of the developer’s real technical skills.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10881360" cy="2286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274320"/>
            <a:ext cx="457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47472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123444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3154679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Diagnostic Scanner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98064"/>
            <a:ext cx="310896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Finds the toy’s fault.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94560"/>
            <a:ext cx="347472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194560"/>
            <a:ext cx="91440" cy="1234440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7" y="2331720"/>
            <a:ext cx="3154679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Precision Screwdriver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798064"/>
            <a:ext cx="310896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Opens tiny mechanisms.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94560"/>
            <a:ext cx="347472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194560"/>
            <a:ext cx="91440" cy="1234440"/>
          </a:xfrm>
          <a:prstGeom prst="rect">
            <a:avLst/>
          </a:prstGeom>
          <a:solidFill>
            <a:srgbClr val="F0B43C"/>
          </a:solidFill>
          <a:ln>
            <a:solidFill>
              <a:srgbClr val="F0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2331720"/>
            <a:ext cx="3154679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Circuit Tester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798064"/>
            <a:ext cx="310896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Checks electrical connections.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347472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03320"/>
            <a:ext cx="91440" cy="123444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840480"/>
            <a:ext cx="3154679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Parts Analyzer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306824"/>
            <a:ext cx="310896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Finds compatible spare parts.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703320"/>
            <a:ext cx="347472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703320"/>
            <a:ext cx="91440" cy="1234440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7" y="3840480"/>
            <a:ext cx="3154679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Calibration Station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7" y="4306824"/>
            <a:ext cx="310896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Tests the repaired toy.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703320"/>
            <a:ext cx="3474720" cy="1234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703320"/>
            <a:ext cx="91440" cy="1234440"/>
          </a:xfrm>
          <a:prstGeom prst="rect">
            <a:avLst/>
          </a:prstGeom>
          <a:solidFill>
            <a:srgbClr val="F0B43C"/>
          </a:solidFill>
          <a:ln>
            <a:solidFill>
              <a:srgbClr val="F0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840480"/>
            <a:ext cx="3154679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Memory Archive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306824"/>
            <a:ext cx="3108960" cy="539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Keeps repair notes and toy histories.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40680"/>
            <a:ext cx="10332720" cy="3657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400" b="0" i="0">
                <a:solidFill>
                  <a:srgbClr val="F8E2B8"/>
                </a:solidFill>
                <a:latin typeface="Aptos"/>
              </a:defRPr>
            </a:pPr>
            <a:r>
              <a:t>Tap a tool to reveal its function and a playful comment from Bolt.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800" b="1" i="0">
                <a:solidFill>
                  <a:srgbClr val="C6A477"/>
                </a:solidFill>
                <a:latin typeface="Aptos"/>
              </a:defRPr>
            </a:pPr>
            <a:r>
              <a:t>BOLT’S FIX-IT-ALL  •  EVERY BROKEN TOY DESERVES A SECOND CHANCE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07 / PAGE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2900" b="1" i="0">
                <a:solidFill>
                  <a:srgbClr val="FFF4DC"/>
                </a:solidFill>
                <a:latin typeface="Aptos Display"/>
              </a:defRPr>
            </a:pPr>
            <a:r>
              <a:t>Projects on the Shelf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300" b="0" i="0">
                <a:solidFill>
                  <a:srgbClr val="F8E2B8"/>
                </a:solidFill>
                <a:latin typeface="Aptos"/>
              </a:defRPr>
            </a:pPr>
            <a:r>
              <a:t>A physical pickup shelf of completed repairs—not conventional project cards.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10881360" cy="2286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274320"/>
            <a:ext cx="457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2606040" cy="278892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2788920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Rubik’s Cube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98064"/>
            <a:ext cx="2240280" cy="209397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Puzzle repair</a:t>
            </a:r>
            <a:br/>
            <a:r>
              <a:t>Customer: 8-year-old boy</a:t>
            </a:r>
            <a:br/>
            <a:br/>
            <a:r>
              <a:t>Optional interaction: Rotate or solve a tiny puzzle.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94560"/>
            <a:ext cx="2606040" cy="278892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194560"/>
            <a:ext cx="91440" cy="278892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233172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Kaleidoscope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798064"/>
            <a:ext cx="2240280" cy="209397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Art &amp; motion</a:t>
            </a:r>
            <a:br/>
            <a:r>
              <a:t>Customer: anonymous</a:t>
            </a:r>
            <a:br/>
            <a:br/>
            <a:r>
              <a:t>Optional interaction: Rotate to reveal changing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94560"/>
            <a:ext cx="2606040" cy="278892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194560"/>
            <a:ext cx="91440" cy="2788920"/>
          </a:xfrm>
          <a:prstGeom prst="rect">
            <a:avLst/>
          </a:prstGeom>
          <a:solidFill>
            <a:srgbClr val="F0B43C"/>
          </a:solidFill>
          <a:ln>
            <a:solidFill>
              <a:srgbClr val="F0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33172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Goodnight Doll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798064"/>
            <a:ext cx="2240280" cy="209397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Music repair</a:t>
            </a:r>
            <a:br/>
            <a:r>
              <a:t>Customer: 5-year-old girl</a:t>
            </a:r>
            <a:br/>
            <a:br/>
            <a:r>
              <a:t>Optional interaction: Wind up and play a short lullaby.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194560"/>
            <a:ext cx="2606040" cy="278892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2194560"/>
            <a:ext cx="91440" cy="278892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6608" y="2331720"/>
            <a:ext cx="228600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Lighthouse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2798064"/>
            <a:ext cx="2240280" cy="209397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100" b="0" i="0">
                <a:solidFill>
                  <a:srgbClr val="2B1D17"/>
                </a:solidFill>
                <a:latin typeface="Aptos"/>
              </a:defRPr>
            </a:pPr>
            <a:r>
              <a:t>Light repair</a:t>
            </a:r>
            <a:br/>
            <a:r>
              <a:t>Customer: 1-year-old baby</a:t>
            </a:r>
            <a:br/>
            <a:br/>
            <a:r>
              <a:t>Optional interaction: Illuminate the lantern and rotate its beam.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500" b="1" i="0">
                <a:solidFill>
                  <a:srgbClr val="F0B43C"/>
                </a:solidFill>
                <a:latin typeface="Aptos"/>
              </a:defRPr>
            </a:pPr>
            <a:r>
              <a:t>Select a toy → open a vintage repair ticket → explore its story → return it to the shelf.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800" b="1" i="0">
                <a:solidFill>
                  <a:srgbClr val="C6A477"/>
                </a:solidFill>
                <a:latin typeface="Aptos"/>
              </a:defRPr>
            </a:pPr>
            <a:r>
              <a:t>BOLT’S FIX-IT-ALL  •  EVERY BROKEN TOY DESERVES A SECOND CHANCE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08 / PAGE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2900" b="1" i="0">
                <a:solidFill>
                  <a:srgbClr val="FFF4DC"/>
                </a:solidFill>
                <a:latin typeface="Aptos Display"/>
              </a:defRPr>
            </a:pPr>
            <a:r>
              <a:t>The Customer Counter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300" b="0" i="0">
                <a:solidFill>
                  <a:srgbClr val="F8E2B8"/>
                </a:solidFill>
                <a:latin typeface="Aptos"/>
              </a:defRPr>
            </a:pPr>
            <a:r>
              <a:t>A simple repair-request form beside a shared, independently scrollable request feed.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10881360" cy="2286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274320"/>
            <a:ext cx="457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166360" cy="288036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91440" cy="2880360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484632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Leave a repair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52344"/>
            <a:ext cx="4800600" cy="2185415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Keep the form lean: name, email, toy name, and what is wrong. Skip photo uploads to save time and reduce backend complexity.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166360" cy="288036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91440" cy="288036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84632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Browse customer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752344"/>
            <a:ext cx="4800600" cy="2185415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One continuous list of all requests—no status filters. Each entry can show toy name, customer message, timestamp, and optional heart button.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241280" cy="5943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400" b="1" i="0">
                <a:solidFill>
                  <a:srgbClr val="F0B43C"/>
                </a:solidFill>
                <a:latin typeface="Aptos"/>
              </a:defRPr>
            </a:pPr>
            <a:r>
              <a:t>Save submissions to a shared database and fetch them for all visitors; a local-only list will not sync between users.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800" b="1" i="0">
                <a:solidFill>
                  <a:srgbClr val="C6A477"/>
                </a:solidFill>
                <a:latin typeface="Aptos"/>
              </a:defRPr>
            </a:pPr>
            <a:r>
              <a:t>BOLT’S FIX-IT-ALL  •  EVERY BROKEN TOY DESERVES A SECOND CHANCE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09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2900" b="1" i="0">
                <a:solidFill>
                  <a:srgbClr val="FFF4DC"/>
                </a:solidFill>
                <a:latin typeface="Aptos Display"/>
              </a:defRPr>
            </a:pPr>
            <a:r>
              <a:t>Responsive on every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300" b="0" i="0">
                <a:solidFill>
                  <a:srgbClr val="F8E2B8"/>
                </a:solidFill>
                <a:latin typeface="Aptos"/>
              </a:defRPr>
            </a:pPr>
            <a:r>
              <a:t>Keep the atmosphere, but adapt the layout—not just shrink the desktop image.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10881360" cy="2286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274320"/>
            <a:ext cx="457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429000" cy="2377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237744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310896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98064"/>
            <a:ext cx="3063240" cy="1682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Wide workshop scene; navigation; Bolt centered; TV on the right; personality cards across the lower panel.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429000" cy="2377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94560"/>
            <a:ext cx="91440" cy="2377440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331720"/>
            <a:ext cx="310896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Tablet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98064"/>
            <a:ext cx="3063240" cy="1682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Smaller navigation; repositioned character and TV; supporting cards wrap into two columns.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94560"/>
            <a:ext cx="3429000" cy="237744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94560"/>
            <a:ext cx="91440" cy="2377440"/>
          </a:xfrm>
          <a:prstGeom prst="rect">
            <a:avLst/>
          </a:prstGeom>
          <a:solidFill>
            <a:srgbClr val="F0B43C"/>
          </a:solidFill>
          <a:ln>
            <a:solidFill>
              <a:srgbClr val="F0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331720"/>
            <a:ext cx="3108960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700" b="1" i="0">
                <a:solidFill>
                  <a:srgbClr val="2B1D17"/>
                </a:solidFill>
                <a:latin typeface="Aptos"/>
              </a:defRPr>
            </a:pPr>
            <a:r>
              <a:t>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98064"/>
            <a:ext cx="3063240" cy="168249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2B1D17"/>
                </a:solidFill>
                <a:latin typeface="Aptos"/>
              </a:defRPr>
            </a:pPr>
            <a:r>
              <a:t>Portrait background crop; compact top navigation; stacked content; touch-friendly controls; no hover-only 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400" b="0" i="0">
                <a:solidFill>
                  <a:srgbClr val="F8E2B8"/>
                </a:solidFill>
                <a:latin typeface="Aptos"/>
              </a:defRPr>
            </a:pPr>
            <a:r>
              <a:t>Use a shared positioned container, relative sizing, media queries, keyboard access, and reduced-motion support.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800" b="1" i="0">
                <a:solidFill>
                  <a:srgbClr val="C6A477"/>
                </a:solidFill>
                <a:latin typeface="Aptos"/>
              </a:defRPr>
            </a:pPr>
            <a:r>
              <a:t>BOLT’S FIX-IT-ALL  •  EVERY BROKEN TOY DESERVES A SECOND CHANCE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10 / BUILD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2900" b="1" i="0">
                <a:solidFill>
                  <a:srgbClr val="FFF4DC"/>
                </a:solidFill>
                <a:latin typeface="Aptos Display"/>
              </a:defRPr>
            </a:pPr>
            <a:r>
              <a:t>Build the smallest complete experience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300" b="0" i="0">
                <a:solidFill>
                  <a:srgbClr val="F8E2B8"/>
                </a:solidFill>
                <a:latin typeface="Aptos"/>
              </a:defRPr>
            </a:pPr>
            <a:r>
              <a:t>Prioritize working interactions and polish over ambitious features that cannot be finished.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10881360" cy="22860"/>
          </a:xfrm>
          <a:prstGeom prst="rect">
            <a:avLst/>
          </a:prstGeom>
          <a:solidFill>
            <a:srgbClr val="2F8F8B"/>
          </a:solidFill>
          <a:ln>
            <a:solidFill>
              <a:srgbClr val="2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274320"/>
            <a:ext cx="45720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057400"/>
            <a:ext cx="438912" cy="438912"/>
          </a:xfrm>
          <a:prstGeom prst="ellipse">
            <a:avLst/>
          </a:prstGeom>
          <a:solidFill>
            <a:srgbClr val="2F8F8B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12264"/>
            <a:ext cx="438912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2103120" cy="32004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FFF4DC"/>
                </a:solidFill>
                <a:latin typeface="Aptos"/>
              </a:defRPr>
            </a:pPr>
            <a:r>
              <a:t>Prepare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57400"/>
            <a:ext cx="7589520" cy="50292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F8E2B8"/>
                </a:solidFill>
                <a:latin typeface="Aptos"/>
              </a:defRPr>
            </a:pPr>
            <a:r>
              <a:t>Desktop/mobile workshop backgrounds; transparent Bolt poses; separate TV frame if needed.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25496"/>
            <a:ext cx="438912" cy="438912"/>
          </a:xfrm>
          <a:prstGeom prst="ellipse">
            <a:avLst/>
          </a:prstGeom>
          <a:solidFill>
            <a:srgbClr val="D7473F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438912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25496"/>
            <a:ext cx="2103120" cy="32004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FFF4DC"/>
                </a:solidFill>
                <a:latin typeface="Aptos"/>
              </a:defRPr>
            </a:pPr>
            <a:r>
              <a:t>Build shared 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25496"/>
            <a:ext cx="7589520" cy="50292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F8E2B8"/>
                </a:solidFill>
                <a:latin typeface="Aptos"/>
              </a:defRPr>
            </a:pPr>
            <a:r>
              <a:t>Header, responsive scene container, navigation, and page-to-page transitions.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593591"/>
            <a:ext cx="438912" cy="438912"/>
          </a:xfrm>
          <a:prstGeom prst="ellipse">
            <a:avLst/>
          </a:prstGeom>
          <a:solidFill>
            <a:srgbClr val="F0B43C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48456"/>
            <a:ext cx="438912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93591"/>
            <a:ext cx="2103120" cy="32004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FFF4DC"/>
                </a:solidFill>
                <a:latin typeface="Aptos"/>
              </a:defRPr>
            </a:pPr>
            <a:r>
              <a:t>Implement core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593591"/>
            <a:ext cx="7589520" cy="50292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F8E2B8"/>
                </a:solidFill>
                <a:latin typeface="Aptos"/>
              </a:defRPr>
            </a:pPr>
            <a:r>
              <a:t>Meet Bolt, Repair Rules, Tool Wall, Projects Shelf, and Contact Counter.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361688"/>
            <a:ext cx="438912" cy="438912"/>
          </a:xfrm>
          <a:prstGeom prst="ellipse">
            <a:avLst/>
          </a:prstGeom>
          <a:solidFill>
            <a:srgbClr val="2F8F8B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16551"/>
            <a:ext cx="438912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361688"/>
            <a:ext cx="2103120" cy="32004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FFF4DC"/>
                </a:solidFill>
                <a:latin typeface="Aptos"/>
              </a:defRPr>
            </a:pPr>
            <a:r>
              <a:t>Add interactions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361688"/>
            <a:ext cx="7589520" cy="50292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F8E2B8"/>
                </a:solidFill>
                <a:latin typeface="Aptos"/>
              </a:defRPr>
            </a:pPr>
            <a:r>
              <a:t>Bolt mood states, story modal, tool details, toy tickets, form submission and request feed.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129783"/>
            <a:ext cx="438912" cy="438912"/>
          </a:xfrm>
          <a:prstGeom prst="ellipse">
            <a:avLst/>
          </a:prstGeom>
          <a:solidFill>
            <a:srgbClr val="D7473F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84647"/>
            <a:ext cx="438912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500" b="1" i="0">
                <a:solidFill>
                  <a:srgbClr val="2B1D1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129783"/>
            <a:ext cx="2103120" cy="32004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500" b="1" i="0">
                <a:solidFill>
                  <a:srgbClr val="FFF4DC"/>
                </a:solidFill>
                <a:latin typeface="Aptos"/>
              </a:defRPr>
            </a:pPr>
            <a:r>
              <a:t>Polish &amp;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129783"/>
            <a:ext cx="7589520" cy="50292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1200" b="0" i="0">
                <a:solidFill>
                  <a:srgbClr val="F8E2B8"/>
                </a:solidFill>
                <a:latin typeface="Aptos"/>
              </a:defRPr>
            </a:pPr>
            <a:r>
              <a:t>Mobile breakpoints, keyboard access, loading states, reduced motion, sound toggle, Easter egg.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defRPr sz="800" b="1" i="0">
                <a:solidFill>
                  <a:srgbClr val="C6A477"/>
                </a:solidFill>
                <a:latin typeface="Aptos"/>
              </a:defRPr>
            </a:pPr>
            <a:r>
              <a:t>BOLT’S FIX-IT-ALL  •  EVERY BROKEN TOY DESERVES A SECOND CHANCE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7473F"/>
          </a:solidFill>
          <a:ln>
            <a:solidFill>
              <a:srgbClr val="D7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59436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3200" b="1" i="0">
                <a:solidFill>
                  <a:srgbClr val="F0B43C"/>
                </a:solidFill>
                <a:latin typeface="Aptos Display"/>
              </a:defRPr>
            </a:pPr>
            <a:r>
              <a:t>BOLT’S FIX-IT-ALL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2400" b="1" i="0">
                <a:solidFill>
                  <a:srgbClr val="FFF4DC"/>
                </a:solidFill>
                <a:latin typeface="Aptos"/>
              </a:defRPr>
            </a:pPr>
            <a:r>
              <a:t>Every broken toy deserves a second chance.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2743200"/>
            <a:ext cx="8321040" cy="2011680"/>
          </a:xfrm>
          <a:prstGeom prst="roundRect">
            <a:avLst/>
          </a:prstGeom>
          <a:solidFill>
            <a:srgbClr val="F8E2B8"/>
          </a:solidFill>
          <a:ln>
            <a:solidFill>
              <a:srgbClr val="6B3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3246120"/>
            <a:ext cx="7498079" cy="10058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>
              <a:defRPr sz="2300" b="1" i="0">
                <a:solidFill>
                  <a:srgbClr val="2B1D17"/>
                </a:solidFill>
                <a:latin typeface="Aptos"/>
              </a:defRPr>
            </a:pPr>
            <a:r>
              <a:t>A small robot. A big belief.</a:t>
            </a:r>
            <a:br/>
            <a:r>
              <a:t>A workshop full of stories waiting to be repaired.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515600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defRPr sz="1000" b="1" i="0">
                <a:solidFill>
                  <a:srgbClr val="F0B43C"/>
                </a:solidFill>
                <a:latin typeface="Aptos"/>
              </a:defRPr>
            </a:pPr>
            <a:r>
              <a:t>BOLT’S FIX-IT-ALL  • 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